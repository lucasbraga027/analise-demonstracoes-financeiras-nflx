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[0:30] Abertura rápida. O trabalho analisa a Netflix em 30 trimestres, de 2019T1 a 2026T2, com dados só de fontes oficiais: SEC, Federal Reserve, Tesouro dos EUA, BLS e Banco Central Europeu. A ordem é contexto macro e setor primeiro, depois análise horizontal e vertical, depois as perguntas ruins sobre as variações bruscas, e por fim a saúde financeira. Tempo total planejado: cerca de 19 minutos e meio, com folga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A Netflix é a maior plataforma de streaming por assinatura. A receita foi de US$ 20,2 bi em 2019 para US$ 45,2 bi em 2025, 2,2 vezes. A empresa ficou mais global: EUA e Canadá eram quase metade da receita em 2019 e hoje são 43%, enquanto a Ásia-Pacífico foi de 7% para 12% e a EMEA de 27,5% para 32%. Isso importa para o slide de câmbio, porque cerca de 57% da receita vem de fora de EUA e Canadá. Os três quadros de baixo dizem como lemos os números. Os dados vêm direto da SEC e foram validados: ativo igual a passivo mais patrimônio líquido em todos os trimestres, e a soma dos quatro trimestres igual ao 10-K. A análise vertical divide cada conta pela receita (DRE) ou pelo ativo total (balanço). A análise horizontal usa a fórmula da disciplina, (atual menos anterior) sobre o módulo do anterior, e a usamos em quatro versões. Tudo está na planilha, em fórmulas.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Começamos pelo ambiente. De 2022 a 2024 o juro dos EUA saiu de perto de zero para 5,3% ao ano, e a inflação chegou a 8,6% em 2022T2. A pergunta natural é se isso machucou a Netflix pelo lado da dívida. A resposta é que não: a despesa de juros ficou entre US$ 170 e 195 milhões por trimestre o período inteiro, porque a dívida é toda em notas de taxa fixa. O choque macro chegou por outros dois caminhos, o bolso do consumidor e o câmbio, que é o próximo slide. Eixo esquerdo em percentual, eixo direito em US$ milhões.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O câmbio é o canal mais forte do macro. Cerca de 57% da receita vem de fora dos EUA e do Canadá, então quando o dólar se valoriza a receita convertida encolhe. O caso mais claro é 2022T4: a receita cresceu só 2% em dólares, mas 10% em moeda constante, como diz a carta aos acionistas. Em 2022 o euro chegou à paridade com o dólar. Guardem esse ponto, porque a Netflix tem dívida em euros e isso vai explicar a queda do lucro naquele mesmo trimestre.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No setor, entre 2021 e 2023 os rivais perdiam bilhões no streaming enquanto a Netflix tinha EBIT de US$ 5,6 a 7,0 bi por ano. A Disney, com Disney+ e Hulu, perdeu 1,3 bi em 2021, 3,4 bi em 2022 e 2,5 bi em 2023. A Paramount+ perdeu 1,0, 1,8 e 1,7 bi nesses anos e 0,5 bi em 2024. A WBD perdeu 1,6 bi em 2022. Só em 2024 e 2025 os rivais chegam perto de zero ou ao lucro, por volta de US$ 1,3 a 1,4 bi, contra US$ 13,3 bi da Netflix em 2025. Ressalva em voz alta: cada empresa reporta uma métrica diferente para o streaming, então o que vale comparar é o sinal e a tendência, não o valor exato. Isso ajuda a ler o resto da apresentação: a Netflix não estava num setor que ia bem, estava ganhando escala enquanto os rivais gastavam para entrar.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[0:45] Aqui está a tese em uma tela. Em sete anos a Netflix passou por três ciclos. Em 2020, a pandemia: 15,8 milhões de assinantes novos no primeiro trimestre e receita crescendo entre 21% e 28% sobre o ano anterior. Em 2022, o ajuste: a receita subiu só 6,5% e o EBIT caiu 9,1%, com perda de assinantes, dólar forte e custos de conteúdo e tecnologia subindo mais que a receita. De 2024 em diante, a escala: receita crescendo 15,6% e 15,9% e EBIT crescendo bem mais, porque o compartilhamento pago e o plano com anúncios trouxeram receita nova sobre um custo quase fixo. Cada variação brusca que vamos ver depois cai em um desses ciclos.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Primeiro gráfico de análise horizontal: crescimento da receita contra o mesmo trimestre do ano anterior. Usamos a versão homóloga, t contra t menos 4, porque a Netflix tem sazonalidade forte e o quarto trimestre é sempre diferente. Comparar com o mesmo trimestre do ano anterior isola a tendência. A fórmula é a da disciplina: atual menos anterior, dividido pelo módulo do anterior. Três fases. Em 2020, crescimento de 21% a 28%, com a pandemia. Em 2022, desaceleração até 2%, com perda de assinantes e dólar forte. De 2024 em diante, a volta a 12% a 18%, puxada por compartilhamento pago e plano com anúncios. Na planilha, a aba AH traz também a versão sequencial e a de base fixa, com 2019T4 igual a 100, e destaca em cor as variações acima de 50%. O eixo vertical está em percentual e o horizontal marca o primeiro trimestre de cada 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A visão anual resume o horizonte. Receita, EBIT e lucro líquido em US$ bilhões, cada um com a variação sobre o ano anterior. O padrão é que o EBIT cresce mais rápido que a receita: em 2020, 76% contra 24%; em 2024, 50% contra 16%. É alavancagem operacional, porque o conteúdo é custo quase fixo diluído por mais receita. A exceção é 2022: a receita subiu 6,5% e o EBIT caiu 9,1%, o único ano em que isso se inverte. No primeiro semestre de 2026 receita e EBIT crescem no mesmo ritmo, 14,7% e 14,4%. O lucro de 1S2026 cresce 44,4% por causa da multa rescisória de US$ 2,8 bi paga pela WBD, que é evento único e aparece de novo mais adiante.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Aqui começa a análise vertical da DRE: cada conta dividida pela receita do trimestre. A margem operacional foi de 12,9% em 2019 para 29,5% em 2025, e 32,8% no primeiro semestre de 2026. É escala: o conteúdo é um custo quase fixo, e mais receita dilui esse custo. O gráfico tem duas quebras de padrão. A primeira é todo quarto trimestre, quando a margem cai por causa dos grandes lançamentos de fim de ano, que concentram amortização e marketing. A segunda é 2025T3, com o imposto no Brasil de US$ 619 milhões. Repare no pico da margem líquida em 2026T1, que passa até o EBIT: é a multa da WBD, e volta no bloco de perguntas ruins.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A tabela mostra a mesma análise vertical, conta por conta, em três pontos no tempo. Escolhi o segundo trimestre de cada ano para não misturar sazonalidade. O custo dos serviços, que concentra o conteúdo, caiu de 61,1% da receita para 48,1%, 13 pontos percentuais. O marketing caiu 5,7 pontos. Tecnologia e administrativas quase não mudam. Somando, é isso que explica os quase 19 pontos a mais de margem operacional, de 14,3% para 33,4%. Uma pergunta que pode vir: por que o lucro líquido de 2022T2 está tão perto do EBIT? Porque houve um ganho cambial de US$ 305 milhões no trimestre, o oposto do que acontece em 2022T4. Os números vêm da aba AV.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[0:45] Agora a análise vertical do balanço, cada conta dividida pelo ativo total. À esquerda, onde os recursos estão aplicados; à direita, de onde eles vêm. Os ativos de conteúdo são a maior fatia, mas caíram de 72% do ativo para 58%. Do lado do financiamento, a dívida caiu de 43% para 24% do total, e o patrimônio líquido foi de 22% para 52%. Em 2019 a Netflix se financiava mais com dívida do que com capital próprio, e hoje é o contrário. Os três pontos no tempo são 2019T4, 2022T4 e 2026T2, e os valores de todos os trimestres estão na aba AV.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Os graus de alavancagem usam as fórmulas da disciplina: GAO é a variação percentual do EBIT sobre a da receita, GAF é a do lucro líquido sobre a do EBIT, e GAT é o produto dos dois. Em 2020 a escala é forte, com GAO de 3,17, mas a perda cambial de US$ 618 mi contém o lucro. Em 2021 o ganho cambial de US$ 411 mi leva o GAF a 2,43. Em 2022 o GAO fica negativo, menos 1,40: a receita subiu 6,5%, mas amortização de conteúdo subiu 14,7% e tecnologia 19,2%, e o EBIT caiu. De 2023 a 2024 o GAO volta a 3,5 e 3,2, e em 2025 cai para 1,76 com o imposto do Brasil. Cuidado ao explicar: a elasticidade explode quando o denominador está perto de zero, por isso usamos a base anual ou homóloga e nunca a sequencial.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[1:15] Primeiro bloco de perguntas ruins, a 4 e a 5. A receita sobe quase em linha reta, e o lucro líquido se descola do EBIT em dois momentos. Pergunta 4: por que o lucro de 2022T4 caiu 96%, para US$ 55 milhões, se o EBIT foi de US$ 550 milhões? A carta aos acionistas responde: uma perda cambial não caixa de US$ 462 milhões na remensuração da dívida em euros, porque o dólar se desvalorizou contra o euro no trimestre. É a ponte com o slide de câmbio. Pergunta 5: como o lucro de 2026T1, US$ 5,28 bi, superou o EBIT de US$ 3,96 bi? Por uma multa rescisória de US$ 2,8 bi quando a WBD trocou a Netflix pela Paramount Skydance. Atenção: uma versão anterior do trabalho atribuía isso a créditos fiscais, e corrigimos. Nos dois casos o efeito está abaixo do EBIT, então a operação segue a receita.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[1:15] Este é o slide-chave para entender o caixa da Netflix. A pergunta ruim 1: por que a empresa lucrou US$ 5,1 bi em 2021 e mesmo assim queimou caixa? O mecanismo é que a Netflix paga o conteúdo antes e o amortiza na DRE ao longo de anos. No gráfico, quando a linha de pagamento fica acima da de amortização, o lucro é maior que o caixa. O 10-K de 2021 diz que o caixa pago por conteúdo superou a amortização em US$ 5,2 bi, porque as produções foram retomadas depois da pandemia, e por isso o fluxo de caixa livre ficou US$ 5,3 bi abaixo do lucro. O oposto aparece em 2020, quando os pagamentos caíram com as produções paradas, e em 2023, quando caíram de novo com as greves de roteiristas e atores. Isso prepara a próxima pergunta.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Pergunta ruim 2: como o fluxo de caixa livre chegou a US$ 6,9 bi em 2023 com a receita crescendo só 7%? A resposta está no slide anterior. As greves de roteiristas e atores pararam produções, e o pagamento de conteúdo ficou em US$ 12,6 bi, abaixo da amortização de US$ 14,2 bi. É um caixa temporário, não recorrente. Visão de longo prazo: de 2019 a 2021 a empresa queimava ou mal gerava caixa, com FCL de menos US$ 3,1 bi em 2019. Em 2025 foram US$ 9,5 bi. O caixa foi para recompra de ações: US$ 6,0 bi em 2023, 6,3 bi em 2024 e 9,1 bi em 2025. FCL aqui é caixa operacional menos capex.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Pergunta ruim 3: por que a Netflix perdeu assinantes em 2022, pela primeira vez em mais de dez anos? Foram vários fatores ao mesmo tempo: a saída da Rússia, que tirou 0,7 milhão, a concorrência dos rivais que vimos no slide de setor, as senhas compartilhadas e a inflação no bolso do consumidor. Os picos do gráfico são o confinamento de 2020T1, com 15,8 milhões de adições líquidas, e o recorde de 2024T4, com 18,9 milhões, já com o compartilhamento pago funcionando. Limitação que precisa ser dita: a Netflix parou de divulgar assinantes em 2025. A empresa justificou que, com preços diferentes por país, cada assinante pesa de um jeito na receita. Por isso o gráfico termina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Pergunta ruim 6: se sobra caixa, por que o modelo de Fleuriet classifica a Netflix como alto risco em 2019, 2021T4 e 2024T2? Nesses trimestres o capital circulante líquido ficou negativo, ou seja, o passivo circulante superou o ativo circulante. O saldo de tesouraria positivo estava sustentado por obrigações de curto prazo: conteúdo a pagar, receita recebida antecipadamente e, em 2024T2, US$ 1,8 bi de dívida vencendo em 12 meses. O ponto central do gráfico é a necessidade de capital de giro, negativa nos 30 trimestres, entre menos US$ 4,7 e 6,4 bi: clientes pagam antes e fornecedores de conteúdo recebem depois, então a operação gera capital de giro em vez de consumir. Desde 2024T3 a estrutura é do tipo I, a de menor risco. Separamos as aplicações financeiras do capital de giro operacional, correção em relação à versão anterior do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Do lado do endividamento, a dívida líquida sobre EBITDA caiu de 3,60 vezes em 2019T4 para 0,35 vez em 2026T2. A dívida bruta quase não mudou, US$ 14,8 bi para 14,3 bi. Quem mudou foi o EBITDA, que multiplicou. O patrimônio líquido foi de US$ 7,6 bi para 30,2 bi, mesmo com as recompras de ações. Usamos os últimos 12 meses reais, e não o trimestre multiplicado por quatro, como na versão anterior. Se a banca perguntar sobre o EBITDA: não somamos a amortização de conteúdo, de propósito, porque conteúdo é custo operacional recorrente da Netflix, e somar inflaria o EBITDA. No retorno, o ROE de 12 meses ficou em cerca de 25% em 2019 e 2020, caiu ao piso de cerca de 19% em 2023 e chega a 45% em 2026T2, inflado pela multa da WBD. A decomposição pelo DuPont, ROA vezes multiplicador de alavancagem, está na aba Indicadores.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[0:30] Para fechar a saúde financeira, a liquidez corrente: ativo circulante sobre passivo circulante. Ela oscila entre 0,6x e 1,4x nos 30 trimestres. Um valor abaixo de 1 normalmente soaria como aperto, mas para a Netflix não é, porque a necessidade de capital de giro é negativa: os clientes pagam antes de a empresa pagar o conteúdo, e isso financia a operação. Isso liga este slide ao do Fleuriet.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[1:30] Três conclusões. Primeira: a análise horizontal mostra três ciclos, pandemia em 2020, crise e ajuste em 2022 e retomada com escala de 2024 em diante. Segunda: as variações bruscas têm explicação identificável e documentada, e cada uma se encaixa em uma de três categorias, conteúdo (greves e retomada das produções), câmbio (dívida em euro e receita externa) e eventos únicos (imposto no Brasil e multa da WBD). A planilha traz 15 casos com o trecho oficial e o número de accession da SEC. Terceira: a empresa saiu de queima de caixa e dívida de 3,6 vezes o EBITDA para uma estrutura de caixa forte. O risco a acompanhar é a tentativa frustrada de compra da Warner Bros., com o empréstimo-ponte de US$ 59 bi contratado em dezembro de 2025, e o que a Netflix fará com o caixa. Se a banca perguntar por que trimestral e não anual: são 30 observações em vez de 7, os eventos ficam visíveis e a AH homóloga elimina a sazonalidade. O quarto trimestre não aparece direto na SEC, é o 10-K menos os nove meses do 10-Q, e a soma dos quatro trimestres confere com o 10-K em todos os anos. Fecha com cerca de 19 minutos e meio.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762000" y="607061"/>
            <a:ext cx="10668000" cy="3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30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3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762000" y="1247776"/>
            <a:ext cx="10617200" cy="479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762000" y="607061"/>
            <a:ext cx="10668000" cy="3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30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3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762000" y="1247776"/>
            <a:ext cx="10617200" cy="479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2103755"/>
            <a:ext cx="10464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CFC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ECO057 · ELABORAÇÃO E ANÁLISE DE PROJETOS · UFJF</a:t>
            </a:r>
            <a:endParaRPr lang="en-US" sz="13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2588895"/>
            <a:ext cx="10464800" cy="905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b="1" i="0" dirty="0">
                <a:solidFill>
                  <a:srgbClr val="F5F5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Netflix, de 2019 a 2026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1016000" y="3723005"/>
            <a:ext cx="1016000" cy="50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4027805"/>
            <a:ext cx="8175625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FC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30 trimestres de demonstrações financeiras mostram sobre crescimento, caixa e risco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76074" y="6102271"/>
            <a:ext cx="915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FC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Lucas Braga, Eurico Júnior, Alek Piroka
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EMPRESA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62000" y="607060"/>
            <a:ext cx="10988040" cy="36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i="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maior plataforma de streaming por assinatura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3556000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000" y="1301115"/>
            <a:ext cx="36626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anual, 2025 contra 2019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2000" y="1608455"/>
            <a:ext cx="366268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E509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2,2x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62000" y="2497455"/>
            <a:ext cx="366268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US$ 20,2 bi em 2019 para US$ 45,2 bi em 2025.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26000" y="1184275"/>
            <a:ext cx="680212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Participação de cada região na receita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36160" y="1539875"/>
          <a:ext cx="6593840" cy="2051050"/>
        </p:xfrm>
        <a:graphic>
          <a:graphicData uri="http://schemas.openxmlformats.org/drawingml/2006/table">
            <a:tbl>
              <a:tblPr/>
              <a:tblGrid>
                <a:gridCol w="3033166"/>
                <a:gridCol w="1186891"/>
                <a:gridCol w="1186891"/>
                <a:gridCol w="1186891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Região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2019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2026T2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Variação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EUA e Canadá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49,9%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43,2%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-6,7 pp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EMEA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27,5%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32,1%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+4,6 pp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América Latina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13,9%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12,6%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-1,3 pp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Ásia-Pacífico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7,3%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12,0%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+4,7 pp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826000" y="3692525"/>
            <a:ext cx="680212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2019, 1,5% da receita ainda vinha do aluguel de DVDs, encerrado em 2023.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62000" y="4182110"/>
            <a:ext cx="3420507" cy="1721485"/>
          </a:xfrm>
          <a:prstGeom prst="roundRect">
            <a:avLst>
              <a:gd name="adj" fmla="val 4426"/>
            </a:avLst>
          </a:prstGeom>
          <a:solidFill>
            <a:srgbClr val="E8E6DF"/>
          </a:solidFill>
          <a:ln/>
        </p:spPr>
      </p:sp>
      <p:sp>
        <p:nvSpPr>
          <p:cNvPr id="12" name="Text 9"/>
          <p:cNvSpPr/>
          <p:nvPr/>
        </p:nvSpPr>
        <p:spPr>
          <a:xfrm>
            <a:off x="952500" y="4347210"/>
            <a:ext cx="31306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52500" y="4624070"/>
            <a:ext cx="3130692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B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trimestres, de 2019T1 a 2026T2, vindos dos 10-Q, 10-K e cartas aos acionistas na SEC. A soma dos quatro trimestres bate com o 10-K em todos os anos.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85707" y="4182110"/>
            <a:ext cx="3420586" cy="1721485"/>
          </a:xfrm>
          <a:prstGeom prst="roundRect">
            <a:avLst>
              <a:gd name="adj" fmla="val 4426"/>
            </a:avLst>
          </a:prstGeom>
          <a:solidFill>
            <a:srgbClr val="E8E6DF"/>
          </a:solidFill>
          <a:ln/>
        </p:spPr>
      </p:sp>
      <p:sp>
        <p:nvSpPr>
          <p:cNvPr id="15" name="Text 12"/>
          <p:cNvSpPr/>
          <p:nvPr/>
        </p:nvSpPr>
        <p:spPr>
          <a:xfrm>
            <a:off x="4576207" y="4347210"/>
            <a:ext cx="3130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vertical (AV)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6207" y="4624070"/>
            <a:ext cx="3130774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B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conta dividida pela sua base: a receita na DRE e o ativo total no balanço.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09493" y="4182110"/>
            <a:ext cx="3420507" cy="1721485"/>
          </a:xfrm>
          <a:prstGeom prst="roundRect">
            <a:avLst>
              <a:gd name="adj" fmla="val 4426"/>
            </a:avLst>
          </a:prstGeom>
          <a:solidFill>
            <a:srgbClr val="E8E6DF"/>
          </a:solidFill>
          <a:ln/>
        </p:spPr>
      </p:sp>
      <p:sp>
        <p:nvSpPr>
          <p:cNvPr id="18" name="Text 15"/>
          <p:cNvSpPr/>
          <p:nvPr/>
        </p:nvSpPr>
        <p:spPr>
          <a:xfrm>
            <a:off x="8199993" y="4347210"/>
            <a:ext cx="31306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horizontal (AH)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99993" y="4624070"/>
            <a:ext cx="313069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B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(atual - anterior) / |anterior|, em quatro versões: sequencial, homóloga, base fixa e anual.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62000" y="6454141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SEC EDGAR (10-Q, 10-K e cartas aos acionistas). Planilha: abas Regioes e Validacao.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MACROECONÔMICO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62000" y="607061"/>
            <a:ext cx="10988040" cy="36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i="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custo do dinheiro subiu, a despesa de juros da Netflix não</a:t>
            </a:r>
            <a:endParaRPr lang="en-US" sz="2300" dirty="0"/>
          </a:p>
        </p:txBody>
      </p:sp>
      <p:pic>
        <p:nvPicPr>
          <p:cNvPr id="4" name="Image 0" descr="Juros dos EUA, inflação e despesa de juros da Netflix por trimestre, de 2019 a 2026">    </p:cNvPr>
          <p:cNvPicPr>
            <a:picLocks noChangeAspect="1"/>
          </p:cNvPicPr>
          <p:nvPr/>
        </p:nvPicPr>
        <p:blipFill>
          <a:blip r:embed="rId1"/>
          <a:srcRect l="-18" r="-18" t="0" b="0"/>
          <a:stretch/>
        </p:blipFill>
        <p:spPr>
          <a:xfrm>
            <a:off x="1651000" y="1031875"/>
            <a:ext cx="8890000" cy="39497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5080000"/>
            <a:ext cx="3386614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5161916"/>
            <a:ext cx="3488212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5,3% ao ano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2000" y="5465445"/>
            <a:ext cx="348821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Taxa de juros dos EUA no pico, depois de sair de perto de zero entre 2022 e 2024.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2614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02614" y="5161916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8,6%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402614" y="5465445"/>
            <a:ext cx="348829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Inflação dos EUA no pico, em 2022T2.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3307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3307" y="5161916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US$ 170 a 195 mi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043307" y="5465445"/>
            <a:ext cx="3488294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Despesa de juros por trimestre. A dívida é toda em notas de taxa fixa, e o choque veio pelo consumidor e pelo câmbio.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2000" y="6454141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Federal Reserve (H.15), Tesouro dos EUA, BLS e SEC EDGAR. Planilha: aba Macro.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MACROECONÔMICO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62000" y="607061"/>
            <a:ext cx="10988040" cy="36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i="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Dólar forte encolhe a receita que vem de fora dos EUA</a:t>
            </a:r>
            <a:endParaRPr lang="en-US" sz="2300" dirty="0"/>
          </a:p>
        </p:txBody>
      </p:sp>
      <p:pic>
        <p:nvPicPr>
          <p:cNvPr id="4" name="Image 0" descr="Índice do dólar e crescimento da receita da Netflix em 12 meses, de 2019 a 2026">    </p:cNvPr>
          <p:cNvPicPr>
            <a:picLocks noChangeAspect="1"/>
          </p:cNvPicPr>
          <p:nvPr/>
        </p:nvPicPr>
        <p:blipFill>
          <a:blip r:embed="rId1"/>
          <a:srcRect l="-18" r="-18" t="0" b="0"/>
          <a:stretch/>
        </p:blipFill>
        <p:spPr>
          <a:xfrm>
            <a:off x="1651000" y="1031875"/>
            <a:ext cx="8890000" cy="39497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5080000"/>
            <a:ext cx="3386614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5161916"/>
            <a:ext cx="3488212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57%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2000" y="5465446"/>
            <a:ext cx="3488212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receita vem de fora de EUA e Canadá (2026T2). Com o dólar forte, ela vale menos quando convertida.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2614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02614" y="5161916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2% e 10%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402614" y="5465446"/>
            <a:ext cx="3488294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Crescimento da receita em 2022T4, em dólares e em moeda constante, segundo a carta aos acionistas.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3307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3307" y="5161916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Euro a US$ 1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043307" y="5465446"/>
            <a:ext cx="3488294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2022 o euro chegou à paridade com o dólar. A Netflix também deve em euros, e isso reaparece no lucro de 2022T4.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2000" y="6454139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Banco Central Europeu, Federal Reserve e SEC EDGAR (cartas aos acionistas). Planilha: abas Macro e Regioes.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SETORIAL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62000" y="607061"/>
            <a:ext cx="10988040" cy="36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i="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Rivais perdiam bilhões no streaming, a Netflix lucrava</a:t>
            </a:r>
            <a:endParaRPr lang="en-US" sz="2300" dirty="0"/>
          </a:p>
        </p:txBody>
      </p:sp>
      <p:pic>
        <p:nvPicPr>
          <p:cNvPr id="4" name="Image 0" descr="Resultado anual do streaming de Netflix, Disney, Paramount e Warner Bros. Discovery, de 2019 a 2025">    </p:cNvPr>
          <p:cNvPicPr>
            <a:picLocks noChangeAspect="1"/>
          </p:cNvPicPr>
          <p:nvPr/>
        </p:nvPicPr>
        <p:blipFill>
          <a:blip r:embed="rId1"/>
          <a:srcRect l="-18" r="-18" t="0" b="0"/>
          <a:stretch/>
        </p:blipFill>
        <p:spPr>
          <a:xfrm>
            <a:off x="1651000" y="1031875"/>
            <a:ext cx="8890000" cy="39497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5080000"/>
            <a:ext cx="3386614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5161914"/>
            <a:ext cx="3488212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US$ 5,6 a 7,0 bi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2000" y="5465446"/>
            <a:ext cx="3488212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EBIT anual da Netflix de 2021 a 2023, enquanto os rivais registravam perdas no streaming.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2614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02614" y="5161914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-US$ 3,4 bi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402614" y="5465446"/>
            <a:ext cx="3488294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da Disney em 2022 (Disney+ e Hulu). No mesmo ano, a Paramount+ perdeu 1,8 bi e a WBD, 1,6 bi.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3307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3307" y="5161914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US$ 1,3 a 1,4 bi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043307" y="5465446"/>
            <a:ext cx="3488294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Onde os rivais chegam em 2024 e 2025, contra US$ 13,3 bi de EBIT da Netflix em 2025.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2000" y="6253482"/>
            <a:ext cx="109880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métricas dos rivais diferem (resultado operacional, EBITDA ajustado, OIBDA ajustado). Vale comparar o sinal e a tendência.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2000" y="6492239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10-K de Disney, WBD, Paramount e Comcast; SEC EDGAR. Planilha: aba Setor.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2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09880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CFC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TRÊS CICLOS EM SETE ANOS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62000" y="967739"/>
            <a:ext cx="1098804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5F5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Pandemia, ajuste e escala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62000" y="3895089"/>
            <a:ext cx="3318907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000" y="4047489"/>
            <a:ext cx="3418474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E509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4509771"/>
            <a:ext cx="341847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5F5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+24,0% e EBIT +76,1%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4846321"/>
            <a:ext cx="3418474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FC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confinamento trouxe 15,8 mi de assinantes no 1º trimestre, e a receita cresceu de 21% a 28% sobre o ano anterior.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6507" y="3895089"/>
            <a:ext cx="3318986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6507" y="4047489"/>
            <a:ext cx="3418556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E509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36507" y="4509771"/>
            <a:ext cx="341855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5F5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+6,5% e EBIT -9,1%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36507" y="4846321"/>
            <a:ext cx="3418556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FC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Perda de assinantes, dólar forte, amortização de conteúdo +14,7% e tecnologia +19,2%.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11093" y="3895089"/>
            <a:ext cx="3318907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11093" y="4047489"/>
            <a:ext cx="3418474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E509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 em diante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11093" y="4509771"/>
            <a:ext cx="341847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5F5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+15,6% e +15,9%; EBIT +49,8% e +27,9%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11093" y="5093971"/>
            <a:ext cx="341847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FC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Compartilhamento pago e plano com anúncios: receita nova sobre um custo quase fixo.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2000" y="6339839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SEC EDGAR. Variações anuais de 2020, 2022, 2024 e 2025. Planilha: aba AH_Anual.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HORIZONTAL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62000" y="607061"/>
            <a:ext cx="10988040" cy="36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i="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Receita: três fases de crescimento em sete anos</a:t>
            </a:r>
            <a:endParaRPr lang="en-US" sz="2300" dirty="0"/>
          </a:p>
        </p:txBody>
      </p:sp>
      <p:pic>
        <p:nvPicPr>
          <p:cNvPr id="4" name="Image 0" descr="Crescimento da receita contra o mesmo trimestre do ano anterior, de 2020T1 a 2026T2">    </p:cNvPr>
          <p:cNvPicPr>
            <a:picLocks noChangeAspect="1"/>
          </p:cNvPicPr>
          <p:nvPr/>
        </p:nvPicPr>
        <p:blipFill>
          <a:blip r:embed="rId1"/>
          <a:srcRect l="-18" r="-18" t="0" b="0"/>
          <a:stretch/>
        </p:blipFill>
        <p:spPr>
          <a:xfrm>
            <a:off x="1651000" y="1031875"/>
            <a:ext cx="8890000" cy="39497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5080000"/>
            <a:ext cx="3386614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5161914"/>
            <a:ext cx="3488212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21% a 28%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2000" y="5465446"/>
            <a:ext cx="348821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2020: o confinamento da pandemia acelera assinantes e receita.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2614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02614" y="5161914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2%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402614" y="5465446"/>
            <a:ext cx="3488294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2022: perda de assinantes e dólar forte levam o crescimento ao piso, em 2022T4.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3307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3307" y="5161914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12% a 18%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043307" y="5465446"/>
            <a:ext cx="3488294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 em diante: compartilhamento pago e plano com anúncios.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2000" y="6253482"/>
            <a:ext cx="109880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comparação é com o mesmo trimestre do ano anterior (t contra t-4) porque a Netflix tem sazonalidade forte no 4º trimestre.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2000" y="6492239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SEC EDGAR (10-Q e 10-K). AH = (atual - anterior) / |anterior|. Planilha: aba AH.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HORIZONTAL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62000" y="607061"/>
            <a:ext cx="10988040" cy="36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i="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anual: o EBIT cresce mais rápido que a receita</a:t>
            </a:r>
            <a:endParaRPr lang="en-US" sz="2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160" y="1219835"/>
          <a:ext cx="6974840" cy="4561840"/>
        </p:xfrm>
        <a:graphic>
          <a:graphicData uri="http://schemas.openxmlformats.org/drawingml/2006/table">
            <a:tbl>
              <a:tblPr/>
              <a:tblGrid>
                <a:gridCol w="1743710"/>
                <a:gridCol w="906729"/>
                <a:gridCol w="836981"/>
                <a:gridCol w="697484"/>
                <a:gridCol w="836981"/>
                <a:gridCol w="1046226"/>
                <a:gridCol w="906729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Receita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AH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EBIT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AH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Lucro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AH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25,0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+24,0%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4,6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+76,1%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2,8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+47,9%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29,7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+18,8%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6,2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+35,1%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+85,3%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31,6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+6,5%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5,6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81D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-9,1%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81D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-12,2%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2023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33,7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+6,7%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7,0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+23,5%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5,4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+20,4%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2024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39,0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+15,6%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10,4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+49,8%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8,7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+61,1%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45,2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+15,9%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13,3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+27,9%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11,0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+26,1%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1S26 contra 1S25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24,8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+14,7%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8,1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+14,4%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8,7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+44,4%*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04200" y="1219200"/>
            <a:ext cx="3225800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04200" y="1326514"/>
            <a:ext cx="3322574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cinco dos seis anos o EBIT cresce mais que a receita. É alavancagem operacional: o conteúdo é custo quase fixo.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04200" y="2426336"/>
            <a:ext cx="3322574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exceção é 2022: a receita subiu 6,5% e o EBIT caiu 9,1%. No 1S2026 os dois crescem no mesmo ritmo.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04200" y="3286125"/>
            <a:ext cx="3322574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em US$ bilhões. *Inclui a multa rescisória da WBD (US$ 2,8 bi).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2000" y="6454142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SEC EDGAR (10-K e 10-Q). AH = (atual - anterior) / |anterior|. Planilha: aba AH_Anual.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VERTICAL: DRE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62000" y="607064"/>
            <a:ext cx="10988040" cy="36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i="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margem operacional foi de 12,9% para 29,5% em seis anos</a:t>
            </a:r>
            <a:endParaRPr lang="en-US" sz="2300" dirty="0"/>
          </a:p>
        </p:txBody>
      </p:sp>
      <p:pic>
        <p:nvPicPr>
          <p:cNvPr id="4" name="Image 0" descr="Margens bruta, operacional e líquida em percentual da receita, por trimestre, de 2019 a 2026">    </p:cNvPr>
          <p:cNvPicPr>
            <a:picLocks noChangeAspect="1"/>
          </p:cNvPicPr>
          <p:nvPr/>
        </p:nvPicPr>
        <p:blipFill>
          <a:blip r:embed="rId1"/>
          <a:srcRect l="-18" r="-18" t="0" b="0"/>
          <a:stretch/>
        </p:blipFill>
        <p:spPr>
          <a:xfrm>
            <a:off x="1651000" y="1031875"/>
            <a:ext cx="8890000" cy="39497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5080000"/>
            <a:ext cx="3386614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5161917"/>
            <a:ext cx="3488212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12,9% a 29,5%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2000" y="5465446"/>
            <a:ext cx="3488212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Margem operacional de 2019 a 2025 (32,8% no 1S2026). O conteúdo é custo quase fixo, diluído por mais receita.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2614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02614" y="5161917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4º trimestre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402614" y="5465446"/>
            <a:ext cx="3488294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margem cai porque os grandes lançamentos ficam concentrados no fim do ano.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3307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3307" y="5161917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2025T3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043307" y="5465446"/>
            <a:ext cx="3488294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Imposto no Brasil de US$ 619 mi comprime a margem do trimestre.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2000" y="6454142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SEC EDGAR (10-Q e 10-K). Cada margem é a conta dividida pela receita do trimestre. Planilha: aba AV.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VERTICAL: DRE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62000" y="607064"/>
            <a:ext cx="10988040" cy="36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i="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custo dos serviços caiu de 61% para 48% da receita</a:t>
            </a:r>
            <a:endParaRPr lang="en-US" sz="2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160" y="1219835"/>
          <a:ext cx="6847840" cy="2684780"/>
        </p:xfrm>
        <a:graphic>
          <a:graphicData uri="http://schemas.openxmlformats.org/drawingml/2006/table">
            <a:tbl>
              <a:tblPr/>
              <a:tblGrid>
                <a:gridCol w="2328266"/>
                <a:gridCol w="1027176"/>
                <a:gridCol w="1027176"/>
                <a:gridCol w="1027176"/>
                <a:gridCol w="1438046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% da receita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2019T2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2022T2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2026T2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Variação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 dos serviços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61,1%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58,9%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48,1%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-13,0 pp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Marketing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12,3%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7,2%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6,6%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-5,7 pp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Tecnologia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7,8%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9,0%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8,0%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+0,2 pp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Administrativas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-0,6 pp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EBIT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14,3%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19,8%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33,4%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+19,0 pp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Lucro líquido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18,1%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27,1%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+21,6 pp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77200" y="1219200"/>
            <a:ext cx="3352800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77200" y="1326517"/>
            <a:ext cx="3453384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quase 19 pontos de margem operacional vêm do custo dos serviços (onde está o conteúdo) e do marketing.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77200" y="2186304"/>
            <a:ext cx="3453384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Tecnologia e administrativas ficam estáveis.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77200" y="2806067"/>
            <a:ext cx="3453384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2022T2 o lucro (18,1%) fica perto do EBIT (19,8%) porque um ganho cambial de US$ 305 mi compensou juros e imposto.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2000" y="6253479"/>
            <a:ext cx="109880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Mesmo trimestre (T2) nos três anos, para evitar a sazonalidade. Diferenças de 0,1 ponto vêm de arredondamento.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2000" y="6492242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SEC EDGAR (10-Q). Receita é a base (100%). Planilha: aba AV.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VERTICAL: BALANÇO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62000" y="607064"/>
            <a:ext cx="10988040" cy="36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i="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balanço, o conteúdo pesa menos e o patrimônio pesa mais</a:t>
            </a:r>
            <a:endParaRPr lang="en-US" sz="2300" dirty="0"/>
          </a:p>
        </p:txBody>
      </p:sp>
      <p:pic>
        <p:nvPicPr>
          <p:cNvPr id="4" name="Image 0" descr="Composição do ativo e do passivo mais patrimônio líquido, em percentual do ativo total, em 2019T4, 2022T4 e 2026T2">    </p:cNvPr>
          <p:cNvPicPr>
            <a:picLocks noChangeAspect="1"/>
          </p:cNvPicPr>
          <p:nvPr/>
        </p:nvPicPr>
        <p:blipFill>
          <a:blip r:embed="rId1"/>
          <a:srcRect l="-18" r="-18" t="0" b="0"/>
          <a:stretch/>
        </p:blipFill>
        <p:spPr>
          <a:xfrm>
            <a:off x="1651000" y="1031875"/>
            <a:ext cx="8890000" cy="39497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5080000"/>
            <a:ext cx="3386614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5161917"/>
            <a:ext cx="3488212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72% para 58%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2000" y="5465446"/>
            <a:ext cx="348821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Ativos de conteúdo no ativo total, de 2019T4 a 2026T2.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2614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02614" y="5161917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43% para 24%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402614" y="5465446"/>
            <a:ext cx="3488294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Dívida de curto e longo prazo no total do passivo mais patrimônio.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3307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3307" y="5161917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22% para 52%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043307" y="5465446"/>
            <a:ext cx="3488294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Patrimônio líquido no mesmo total: a empresa se financia cada vez mais com capital próprio.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2000" y="6454142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SEC EDGAR (10-Q e 10-K). Cada conta dividida pelo ativo total. Planilha: aba AV.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HORIZONTAL: ALAVANCAGEM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62000" y="607064"/>
            <a:ext cx="10988040" cy="36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i="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Alavancagem operacional e financeira por ano</a:t>
            </a:r>
            <a:endParaRPr lang="en-US" sz="2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160" y="1042035"/>
          <a:ext cx="10657840" cy="2684780"/>
        </p:xfrm>
        <a:graphic>
          <a:graphicData uri="http://schemas.openxmlformats.org/drawingml/2006/table">
            <a:tbl>
              <a:tblPr/>
              <a:tblGrid>
                <a:gridCol w="959206"/>
                <a:gridCol w="959206"/>
                <a:gridCol w="959206"/>
                <a:gridCol w="959206"/>
                <a:gridCol w="6821018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GAF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5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Como ler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3,17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0,63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2,00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Escala forte; perda cambial de US$ 618 mi contém o lucro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D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1,87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2,43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4,53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Ganho cambial de US$ 411 mi turbina o lucro líquido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81D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-1,40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1,35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81D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-1,89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Receita +6,5%, mas conteúdo +14,7% e tecnologia +19,2%: o EBIT cai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2023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3,52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0,87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3,06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Volta a alavancagem operacional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2024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3,18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1,23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3,90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Compartilhamento pago: receita nova com custo quase fixo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1,76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0,93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1,64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Alavancagem menor; o imposto do Brasil pesou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3952242"/>
            <a:ext cx="4826000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4034154"/>
            <a:ext cx="497078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GAO = Δ% EBIT / Δ% receita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2000" y="4324989"/>
            <a:ext cx="497078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GAF = Δ% lucro líquido / Δ% EBIT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2000" y="4615817"/>
            <a:ext cx="497078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 = GAO × GAF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0" y="4018917"/>
            <a:ext cx="565099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B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elasticidade explode quando a variação do denominador é perto de zero. Por isso usamos a base anual ou a homóloga, nunca a sequencial.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2000" y="6454142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SEC EDGAR (10-K). Planilha: aba AH_Anual (anual) e aba Indicadores (trimestral homóloga).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PERGUNTAS RUINS 4 E 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62000" y="607064"/>
            <a:ext cx="10988040" cy="36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i="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Duas vezes o lucro se descolou do EBIT. Por quê?</a:t>
            </a:r>
            <a:endParaRPr lang="en-US" sz="2300" dirty="0"/>
          </a:p>
        </p:txBody>
      </p:sp>
      <p:pic>
        <p:nvPicPr>
          <p:cNvPr id="4" name="Image 0" descr="Receita, EBIT e lucro líquido por trimestre, de 2019 a 2026, com os eventos de 2022T4 e 2026T1 indicados">    </p:cNvPr>
          <p:cNvPicPr>
            <a:picLocks noChangeAspect="1"/>
          </p:cNvPicPr>
          <p:nvPr/>
        </p:nvPicPr>
        <p:blipFill>
          <a:blip r:embed="rId1"/>
          <a:srcRect l="-18" r="-18" t="0" b="0"/>
          <a:stretch/>
        </p:blipFill>
        <p:spPr>
          <a:xfrm>
            <a:off x="1651000" y="1031875"/>
            <a:ext cx="8890000" cy="39497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5161917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2022T4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2000" y="5465446"/>
            <a:ext cx="3488294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Lucro caiu 96%, para US$ 55 mi, com EBIT de US$ 550 mi. Perda cambial não caixa de US$ 462 mi na dívida em euros.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2693" y="5080000"/>
            <a:ext cx="4064000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02693" y="5161917"/>
            <a:ext cx="4185920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2026T1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402693" y="5465446"/>
            <a:ext cx="4185920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Lucro de US$ 5,28 bi, acima do EBIT de US$ 3,96 bi: multa rescisória de US$ 2,8 bi quando a WBD trocou a Netflix pela Paramount Skydance.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720693" y="5080000"/>
            <a:ext cx="2709307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20693" y="5161917"/>
            <a:ext cx="2790586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Fora do EBIT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720693" y="5465446"/>
            <a:ext cx="2790586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dois efeitos são não operacionais. A operação segue a receita.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2000" y="6454142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SEC EDGAR (carta aos acionistas do 4T22, 10-Q do 1T26). Planilha: abas DRE e Variacoes_Bruscas.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RUIM 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62000" y="607064"/>
            <a:ext cx="10988040" cy="36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i="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Lucro de US$ 5,1 bi em 2021 e caixa queimando: como?</a:t>
            </a:r>
            <a:endParaRPr lang="en-US" sz="2300" dirty="0"/>
          </a:p>
        </p:txBody>
      </p:sp>
      <p:pic>
        <p:nvPicPr>
          <p:cNvPr id="4" name="Image 0" descr="Pagamento de conteúdo em caixa contra amortização de conteúdo na DRE, por trimestre, de 2019 a 2026">    </p:cNvPr>
          <p:cNvPicPr>
            <a:picLocks noChangeAspect="1"/>
          </p:cNvPicPr>
          <p:nvPr/>
        </p:nvPicPr>
        <p:blipFill>
          <a:blip r:embed="rId1"/>
          <a:srcRect l="-18" r="-18" t="0" b="0"/>
          <a:stretch/>
        </p:blipFill>
        <p:spPr>
          <a:xfrm>
            <a:off x="1651000" y="1031875"/>
            <a:ext cx="8890000" cy="39497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5080000"/>
            <a:ext cx="3386614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5161917"/>
            <a:ext cx="3488212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US$ 5,2 bi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2000" y="5465446"/>
            <a:ext cx="3488212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pagamento de conteúdo acima da amortização em 2021, segundo o 10-K. O conteúdo é pago antes e amortizado em anos.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2614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02614" y="5161917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US$ 5,1 bi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402614" y="5465446"/>
            <a:ext cx="3488294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lucro líquido em 2021. A DRE reconhece o conteúdo aos poucos, enquanto o caixa sai antes.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3307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3307" y="5161917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 e 2023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043307" y="5465446"/>
            <a:ext cx="3488294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pagamentos caem: produções paradas pela pandemia e depois pelas greves.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2000" y="6454142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SEC EDGAR (10-K 2021 e relatórios seguintes). Planilha: abas DFC e Variacoes_Bruscas.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RUIM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62000" y="607064"/>
            <a:ext cx="10988040" cy="36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i="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FCL de US$ 6,9 bi em 2023 com receita subindo 7%: como?</a:t>
            </a:r>
            <a:endParaRPr lang="en-US" sz="2300" dirty="0"/>
          </a:p>
        </p:txBody>
      </p:sp>
      <p:pic>
        <p:nvPicPr>
          <p:cNvPr id="4" name="Image 0" descr="Fluxo de caixa livre anual e recompra de ações da Netflix, de 2019 a 1S2026">    </p:cNvPr>
          <p:cNvPicPr>
            <a:picLocks noChangeAspect="1"/>
          </p:cNvPicPr>
          <p:nvPr/>
        </p:nvPicPr>
        <p:blipFill>
          <a:blip r:embed="rId1"/>
          <a:srcRect l="-18" r="-18" t="0" b="0"/>
          <a:stretch/>
        </p:blipFill>
        <p:spPr>
          <a:xfrm>
            <a:off x="1651000" y="1031875"/>
            <a:ext cx="8890000" cy="39497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5080000"/>
            <a:ext cx="3386614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5161917"/>
            <a:ext cx="3488212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Greves de 2023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2000" y="5465446"/>
            <a:ext cx="3488212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Roteiristas e atores pararam produções. O pagamento de conteúdo ficou abaixo da amortização, e esse caixa foi temporário.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2614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02614" y="5161917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US$ 9,5 bi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402614" y="5465446"/>
            <a:ext cx="3488294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FCL em 2025, contra queima de US$ 3,1 bi em 2019.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3307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3307" y="5161917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US$ 9,1 bi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043307" y="5465446"/>
            <a:ext cx="3488294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recompra de ações em 2025, depois de US$ 6,0 bi em 2023 e US$ 6,3 bi em 2024.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2000" y="6454142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SEC EDGAR (10-Q e 10-K). FCL = caixa operacional menos capex. Planilha: aba DFC.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RUIM 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62000" y="607064"/>
            <a:ext cx="10988040" cy="36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i="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a Netflix perdeu assinantes em 2022?</a:t>
            </a:r>
            <a:endParaRPr lang="en-US" sz="2300" dirty="0"/>
          </a:p>
        </p:txBody>
      </p:sp>
      <p:pic>
        <p:nvPicPr>
          <p:cNvPr id="4" name="Image 0" descr="Adições líquidas de assinantes pagos por trimestre, de 2019 a 2024, com a perda de 2022 em destaque">    </p:cNvPr>
          <p:cNvPicPr>
            <a:picLocks noChangeAspect="1"/>
          </p:cNvPicPr>
          <p:nvPr/>
        </p:nvPicPr>
        <p:blipFill>
          <a:blip r:embed="rId1"/>
          <a:srcRect l="-18" r="-18" t="0" b="0"/>
          <a:stretch/>
        </p:blipFill>
        <p:spPr>
          <a:xfrm>
            <a:off x="1651000" y="1031875"/>
            <a:ext cx="8890000" cy="39497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5080000"/>
            <a:ext cx="3386614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5161917"/>
            <a:ext cx="3488212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-0,7 mi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2000" y="5465452"/>
            <a:ext cx="3488212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a saída da Rússia em 2022, além de concorrência, senhas compartilhadas e inflação. Foi a primeira perda em mais de 10 anos.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2614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02614" y="5161917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+15,8 mi e +18,9 mi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402614" y="5465452"/>
            <a:ext cx="3488294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Picos de adições líquidas: confinamento em 2020T1 e 4º trimestre de 2024.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3307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3307" y="5161917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 encerrado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043307" y="5465452"/>
            <a:ext cx="3488294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2025 a Netflix não divulga assinantes: com preços diferentes por país, cada assinante pesa de um jeito na receita.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2000" y="6454142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SEC EDGAR (cartas aos acionistas e 10-Q). Planilha: aba Regioes.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RUIM 6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62000" y="607058"/>
            <a:ext cx="10988040" cy="36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i="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tanto caixa, por que o Fleuriet aponta alto risco?</a:t>
            </a:r>
            <a:endParaRPr lang="en-US" sz="2300" dirty="0"/>
          </a:p>
        </p:txBody>
      </p:sp>
      <p:pic>
        <p:nvPicPr>
          <p:cNvPr id="4" name="Image 0" descr="Modelo de Fleuriet: capital circulante líquido, necessidade de capital de giro e saldo de tesouraria por trimestre, de 2019 a 2026">    </p:cNvPr>
          <p:cNvPicPr>
            <a:picLocks noChangeAspect="1"/>
          </p:cNvPicPr>
          <p:nvPr/>
        </p:nvPicPr>
        <p:blipFill>
          <a:blip r:embed="rId1"/>
          <a:srcRect l="-18" r="-18" t="0" b="0"/>
          <a:stretch/>
        </p:blipFill>
        <p:spPr>
          <a:xfrm>
            <a:off x="1651000" y="1031875"/>
            <a:ext cx="8890000" cy="39497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5080000"/>
            <a:ext cx="3386614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5161917"/>
            <a:ext cx="3488212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NCG negativa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2000" y="5465452"/>
            <a:ext cx="3488212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 30 trimestres, entre -US$ 4,7 bi e -6,4 bi: o cliente paga antes e o fornecedor de conteúdo recebe depois.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2614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02614" y="5161917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 VI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402614" y="5465452"/>
            <a:ext cx="3488294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2019, 2021T4 e 2024T2: CCL negativo, com o caixa sustentado por obrigações de curto prazo.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3307" y="508000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3307" y="5161917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 I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043307" y="5465452"/>
            <a:ext cx="3488294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2024T3 a estrutura é do tipo I, a classificação de menor risco.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2000" y="6454142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SEC EDGAR. CCL = AC - PC; NCG = ACO - PCO; ST = CCL - NCG. Planilha: aba Indicadores.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ENDIVIDAMENTO E RETORNO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62000" y="607058"/>
            <a:ext cx="10988040" cy="36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i="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Dívida líquida caiu de 3,6x para 0,35x o EBITDA</a:t>
            </a:r>
            <a:endParaRPr lang="en-US" sz="2300" dirty="0"/>
          </a:p>
        </p:txBody>
      </p:sp>
      <p:pic>
        <p:nvPicPr>
          <p:cNvPr id="4" name="Image 0" descr="Dívida líquida sobre EBITDA dos últimos 12 meses, por trimestre, de 2019 a 2026">    </p:cNvPr>
          <p:cNvPicPr>
            <a:picLocks noChangeAspect="1"/>
          </p:cNvPicPr>
          <p:nvPr/>
        </p:nvPicPr>
        <p:blipFill>
          <a:blip r:embed="rId1"/>
          <a:srcRect l="-17" r="-17" t="0" b="0"/>
          <a:stretch/>
        </p:blipFill>
        <p:spPr>
          <a:xfrm>
            <a:off x="762000" y="1031875"/>
            <a:ext cx="5207000" cy="3943350"/>
          </a:xfrm>
          <a:prstGeom prst="rect">
            <a:avLst/>
          </a:prstGeom>
        </p:spPr>
      </p:pic>
      <p:pic>
        <p:nvPicPr>
          <p:cNvPr id="5" name="Image 1" descr="ROE e ROA dos últimos 12 meses, por trimestre, de 2019 a 2026">    </p:cNvPr>
          <p:cNvPicPr>
            <a:picLocks noChangeAspect="1"/>
          </p:cNvPicPr>
          <p:nvPr/>
        </p:nvPicPr>
        <p:blipFill>
          <a:blip r:embed="rId2"/>
          <a:srcRect l="-17" r="-17" t="0" b="0"/>
          <a:stretch/>
        </p:blipFill>
        <p:spPr>
          <a:xfrm>
            <a:off x="6223000" y="1031875"/>
            <a:ext cx="5207000" cy="39433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62000" y="5073650"/>
            <a:ext cx="3386614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62000" y="5155567"/>
            <a:ext cx="3488212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3,60x para 0,35x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762000" y="5459102"/>
            <a:ext cx="348821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dívida bruta quase não mudou (US$ 14,8 bi para 14,3 bi). O EBITDA multiplicou.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402614" y="507365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402614" y="5155567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US$ 7,6 a 30,2 bi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4402614" y="5459102"/>
            <a:ext cx="3488294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Patrimônio líquido de 2019T4 a 2026T2, mesmo com as recompras.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043307" y="5073650"/>
            <a:ext cx="3386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43307" y="5155567"/>
            <a:ext cx="348829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ROE de 19% a 45%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8043307" y="5459102"/>
            <a:ext cx="3488294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Piso em 2023. Os 45% de 2026T2 incluem a multa da WBD.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2000" y="6454142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SEC EDGAR. EBITDA sem somar a amortização de conteúdo; ROE e dívida/EBITDA em 12 meses. Planilha: aba Indicadores.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LIQUIDEZ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62000" y="607058"/>
            <a:ext cx="10988040" cy="36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i="0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Liquidez corrente abaixo de 1 não é aperto para a Netflix</a:t>
            </a:r>
            <a:endParaRPr lang="en-US" sz="2300" dirty="0"/>
          </a:p>
        </p:txBody>
      </p:sp>
      <p:pic>
        <p:nvPicPr>
          <p:cNvPr id="4" name="Image 0" descr="Liquidez corrente por trimestre, de 2019 a 2026, com a linha de ativo circulante igual a passivo circulante">    </p:cNvPr>
          <p:cNvPicPr>
            <a:picLocks noChangeAspect="1"/>
          </p:cNvPicPr>
          <p:nvPr/>
        </p:nvPicPr>
        <p:blipFill>
          <a:blip r:embed="rId1"/>
          <a:srcRect l="-18" r="-18" t="0" b="0"/>
          <a:stretch/>
        </p:blipFill>
        <p:spPr>
          <a:xfrm>
            <a:off x="1651000" y="1031875"/>
            <a:ext cx="8890000" cy="39497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5080000"/>
            <a:ext cx="3471307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5161917"/>
            <a:ext cx="3575446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0,6x a 1,4x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2000" y="5465452"/>
            <a:ext cx="357544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Faixa da liquidez corrente nos 30 trimestres.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87307" y="5080000"/>
            <a:ext cx="6942693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87307" y="5161917"/>
            <a:ext cx="715097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22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Abaixo de 1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487307" y="5465452"/>
            <a:ext cx="715097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NCG negativa financia a operação: o cliente paga antes de a Netflix pagar o conteúdo.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2000" y="6454142"/>
            <a:ext cx="10988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SEC EDGAR (10-Q e 10-K). Liquidez corrente = ativo circulante / passivo circulante. Planilha: aba Indicadores.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2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09880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CFC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CONCLUSÕES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62000" y="967742"/>
            <a:ext cx="1098804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5F5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queima de caixa à escala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62000" y="3848100"/>
            <a:ext cx="3318907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000" y="4000500"/>
            <a:ext cx="3418474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5F5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Três ciclos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2000" y="4348485"/>
            <a:ext cx="341847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FC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análise horizontal mostra pandemia (2020), ajuste (2022) e escala (2024 em diante).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6507" y="3848100"/>
            <a:ext cx="3318986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6507" y="4000500"/>
            <a:ext cx="341855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5F5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Variações explicáveis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36507" y="4348485"/>
            <a:ext cx="3418556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FC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variação brusca cai em conteúdo, câmbio ou evento único (imposto no Brasil, multa da WBD), com fonte oficial na planilha.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11093" y="3848100"/>
            <a:ext cx="3318907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11093" y="4000500"/>
            <a:ext cx="3418474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5F5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observar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11093" y="4348485"/>
            <a:ext cx="3418474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FC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dívida de 3,6x o EBITDA virou 0,35x. O risco agora é a tentativa frustrada de comprar a Warner Bros., com empréstimo-ponte de US$ 59 bi contratado em dez/2025, e o destino do caixa.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2000" y="6126485"/>
            <a:ext cx="109880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B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Todas as análises estão na planilha Analise_Netflix_ECO057.xlsx. Fontes: SEC EDGAR, Federal Reserve, Tesouro dos EUA, BLS e Banco Central Europeu.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flix: análise das demonstrações financeiras">
  <a:themeElements>
    <a:clrScheme name="Netflix: análise das demonstrações financeiras">
      <a:dk1>
        <a:srgbClr val="221F1F"/>
      </a:dk1>
      <a:lt1>
        <a:srgbClr val="F5F5F1"/>
      </a:lt1>
      <a:dk2>
        <a:srgbClr val="575554"/>
      </a:dk2>
      <a:lt2>
        <a:srgbClr val="E0E0DC"/>
      </a:lt2>
      <a:accent1>
        <a:srgbClr val="B81D24"/>
      </a:accent1>
      <a:accent2>
        <a:srgbClr val="E50914"/>
      </a:accent2>
      <a:accent3>
        <a:srgbClr val="4A4541"/>
      </a:accent3>
      <a:accent4>
        <a:srgbClr val="6E6A66"/>
      </a:accent4>
      <a:accent5>
        <a:srgbClr val="CFCBC4"/>
      </a:accent5>
      <a:accent6>
        <a:srgbClr val="3B3733"/>
      </a:accent6>
      <a:hlink>
        <a:srgbClr val="0563C1"/>
      </a:hlink>
      <a:folHlink>
        <a:srgbClr val="954F72"/>
      </a:folHlink>
    </a:clrScheme>
    <a:fontScheme name="Netflix: análise das demonstrações financeiras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Netflix: análise das demonstrações financeiras</dc:title>
  <dc:subject/>
  <dc:creator/>
  <cp:lastModifiedBy/>
  <cp:revision>1</cp:revision>
  <dcterms:created xsi:type="dcterms:W3CDTF">2026-10-19T14:40:30Z</dcterms:created>
  <dcterms:modified xsi:type="dcterms:W3CDTF">2026-10-19T14:40:30Z</dcterms:modified>
</cp:coreProperties>
</file>